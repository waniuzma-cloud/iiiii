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0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14300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ARTIFICIAL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31720"/>
            <a:ext cx="107899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Expert Systems, Knowledge Representation,</a:t>
            </a:r>
            <a:br/>
            <a:r>
              <a:t>Inference Rules &amp; Automated Reasoning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3977639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2E1F5"/>
                </a:solidFill>
              </a:defRPr>
            </a:pPr>
            <a:r>
              <a:t>Engineering Lecture Presentation</a:t>
            </a:r>
            <a:br/>
            <a:r>
              <a:t>Discrete Mathematics – Unit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282D"/>
                </a:solidFill>
              </a:defRPr>
            </a:pPr>
            <a:r>
              <a:t>Explain what an Artificial Intelligence (AI) expert system is and why it is used.</a:t>
            </a:r>
          </a:p>
          <a:p>
            <a:pPr>
              <a:spcAft>
                <a:spcPts val="1000"/>
              </a:spcAft>
              <a:defRPr sz="2000" b="0">
                <a:solidFill>
                  <a:srgbClr val="23282D"/>
                </a:solidFill>
              </a:defRPr>
            </a:pPr>
            <a:r>
              <a:t>Describe the major components and architecture of an expert system.</a:t>
            </a:r>
          </a:p>
          <a:p>
            <a:pPr>
              <a:spcAft>
                <a:spcPts val="1000"/>
              </a:spcAft>
              <a:defRPr sz="2000" b="0">
                <a:solidFill>
                  <a:srgbClr val="23282D"/>
                </a:solidFill>
              </a:defRPr>
            </a:pPr>
            <a:r>
              <a:t>Represent knowledge using propositional logic and predicate logic.</a:t>
            </a:r>
          </a:p>
          <a:p>
            <a:pPr>
              <a:spcAft>
                <a:spcPts val="1000"/>
              </a:spcAft>
              <a:defRPr sz="2000" b="0">
                <a:solidFill>
                  <a:srgbClr val="23282D"/>
                </a:solidFill>
              </a:defRPr>
            </a:pPr>
            <a:r>
              <a:t>Apply rules of inference to derive conclusions from known facts.</a:t>
            </a:r>
          </a:p>
          <a:p>
            <a:pPr>
              <a:spcAft>
                <a:spcPts val="1000"/>
              </a:spcAft>
              <a:defRPr sz="2000" b="0">
                <a:solidFill>
                  <a:srgbClr val="23282D"/>
                </a:solidFill>
              </a:defRPr>
            </a:pPr>
            <a:r>
              <a:t>Understand forward chaining, backward chaining, and automated reasoning.</a:t>
            </a:r>
          </a:p>
          <a:p>
            <a:pPr>
              <a:spcAft>
                <a:spcPts val="1000"/>
              </a:spcAft>
              <a:defRPr sz="2000" b="0">
                <a:solidFill>
                  <a:srgbClr val="23282D"/>
                </a:solidFill>
              </a:defRPr>
            </a:pPr>
            <a:r>
              <a:t>Build and trace simple expert-system examples.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9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1. What is an AI Expert System?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282D"/>
                </a:solidFill>
              </a:defRPr>
            </a:pPr>
            <a:r>
              <a:t>An expert system is an AI program designed to solve problems in a specific domain using stored expert knowledge.</a:t>
            </a:r>
          </a:p>
          <a:p>
            <a:pPr>
              <a:spcAft>
                <a:spcPts val="1000"/>
              </a:spcAft>
              <a:defRPr sz="2000" b="0">
                <a:solidFill>
                  <a:srgbClr val="23282D"/>
                </a:solidFill>
              </a:defRPr>
            </a:pPr>
            <a:r>
              <a:t>It attempts to reproduce important parts of the decision-making ability of a human specialist.</a:t>
            </a:r>
          </a:p>
          <a:p>
            <a:pPr>
              <a:spcAft>
                <a:spcPts val="1000"/>
              </a:spcAft>
              <a:defRPr sz="2000" b="0">
                <a:solidFill>
                  <a:srgbClr val="23282D"/>
                </a:solidFill>
              </a:defRPr>
            </a:pPr>
            <a:r>
              <a:t>Unlike a general-purpose program, it is usually domain-specific: medicine, finance, troubleshooting, agriculture, etc.</a:t>
            </a:r>
          </a:p>
          <a:p>
            <a:pPr>
              <a:spcAft>
                <a:spcPts val="1000"/>
              </a:spcAft>
              <a:defRPr sz="2000" b="0">
                <a:solidFill>
                  <a:srgbClr val="23282D"/>
                </a:solidFill>
              </a:defRPr>
            </a:pPr>
            <a:r>
              <a:t>The system combines a knowledge base with an inference mechanism to reach conclusions.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709160"/>
            <a:ext cx="10241280" cy="914400"/>
          </a:xfrm>
          <a:prstGeom prst="roundRect">
            <a:avLst/>
          </a:prstGeom>
          <a:solidFill>
            <a:srgbClr val="EEF5FC"/>
          </a:solidFill>
          <a:ln>
            <a:solidFill>
              <a:srgbClr val="2C66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4919472"/>
            <a:ext cx="9784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93050"/>
                </a:solidFill>
              </a:defRPr>
            </a:pPr>
            <a:r>
              <a:t>Knowledge + Inference Rules + Facts  →  Intelligent 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9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419088"/>
            <a:ext cx="9875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87878"/>
                </a:solidFill>
              </a:defRPr>
            </a:pPr>
            <a:r>
              <a:t>Teaching note: Emphasize that an expert system is a knowledge-based AI system for a particular domain.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Characteristics of Expert Systems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5394960" cy="4892040"/>
          </a:xfrm>
          <a:prstGeom prst="roundRect">
            <a:avLst/>
          </a:prstGeom>
          <a:solidFill>
            <a:srgbClr val="EEF5FC"/>
          </a:solidFill>
          <a:ln>
            <a:solidFill>
              <a:srgbClr val="2C66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44752"/>
            <a:ext cx="4937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C66B0"/>
                </a:solidFill>
              </a:defRPr>
            </a:pPr>
            <a:r>
              <a:t>Key Characteristics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01952"/>
            <a:ext cx="4892040" cy="3886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3282D"/>
                </a:solidFill>
              </a:defRPr>
            </a:pPr>
            <a:r>
              <a:t>Domain-specific expertise</a:t>
            </a:r>
          </a:p>
          <a:p>
            <a:pPr>
              <a:spcAft>
                <a:spcPts val="1000"/>
              </a:spcAft>
              <a:defRPr sz="1700" b="0">
                <a:solidFill>
                  <a:srgbClr val="23282D"/>
                </a:solidFill>
              </a:defRPr>
            </a:pPr>
            <a:r>
              <a:t>Knowledge-based decision making</a:t>
            </a:r>
          </a:p>
          <a:p>
            <a:pPr>
              <a:spcAft>
                <a:spcPts val="1000"/>
              </a:spcAft>
              <a:defRPr sz="1700" b="0">
                <a:solidFill>
                  <a:srgbClr val="23282D"/>
                </a:solidFill>
              </a:defRPr>
            </a:pPr>
            <a:r>
              <a:t>Reasoning using rules</a:t>
            </a:r>
          </a:p>
          <a:p>
            <a:pPr>
              <a:spcAft>
                <a:spcPts val="1000"/>
              </a:spcAft>
              <a:defRPr sz="1700" b="0">
                <a:solidFill>
                  <a:srgbClr val="23282D"/>
                </a:solidFill>
              </a:defRPr>
            </a:pPr>
            <a:r>
              <a:t>Consistent conclusions</a:t>
            </a:r>
          </a:p>
          <a:p>
            <a:pPr>
              <a:spcAft>
                <a:spcPts val="1000"/>
              </a:spcAft>
              <a:defRPr sz="1700" b="0">
                <a:solidFill>
                  <a:srgbClr val="23282D"/>
                </a:solidFill>
              </a:defRPr>
            </a:pPr>
            <a:r>
              <a:t>Explanation of reasoning (in many systems)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234440"/>
            <a:ext cx="5394960" cy="4892040"/>
          </a:xfrm>
          <a:prstGeom prst="roundRect">
            <a:avLst/>
          </a:prstGeom>
          <a:solidFill>
            <a:srgbClr val="EEF5FC"/>
          </a:solidFill>
          <a:ln>
            <a:solidFill>
              <a:srgbClr val="2C66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44752"/>
            <a:ext cx="4937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C66B0"/>
                </a:solidFill>
              </a:defRPr>
            </a:pPr>
            <a:r>
              <a:t>Advantages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01952"/>
            <a:ext cx="4892040" cy="3886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3282D"/>
                </a:solidFill>
              </a:defRPr>
            </a:pPr>
            <a:r>
              <a:t>Available 24×7</a:t>
            </a:r>
          </a:p>
          <a:p>
            <a:pPr>
              <a:spcAft>
                <a:spcPts val="1000"/>
              </a:spcAft>
              <a:defRPr sz="1700" b="0">
                <a:solidFill>
                  <a:srgbClr val="23282D"/>
                </a:solidFill>
              </a:defRPr>
            </a:pPr>
            <a:r>
              <a:t>Fast processing of many rules</a:t>
            </a:r>
          </a:p>
          <a:p>
            <a:pPr>
              <a:spcAft>
                <a:spcPts val="1000"/>
              </a:spcAft>
              <a:defRPr sz="1700" b="0">
                <a:solidFill>
                  <a:srgbClr val="23282D"/>
                </a:solidFill>
              </a:defRPr>
            </a:pPr>
            <a:r>
              <a:t>Preserves organizational knowledge</a:t>
            </a:r>
          </a:p>
          <a:p>
            <a:pPr>
              <a:spcAft>
                <a:spcPts val="1000"/>
              </a:spcAft>
              <a:defRPr sz="1700" b="0">
                <a:solidFill>
                  <a:srgbClr val="23282D"/>
                </a:solidFill>
              </a:defRPr>
            </a:pPr>
            <a:r>
              <a:t>Useful when human experts are scarce</a:t>
            </a:r>
          </a:p>
          <a:p>
            <a:pPr>
              <a:spcAft>
                <a:spcPts val="1000"/>
              </a:spcAft>
              <a:defRPr sz="1700" b="0">
                <a:solidFill>
                  <a:srgbClr val="23282D"/>
                </a:solidFill>
              </a:defRPr>
            </a:pPr>
            <a:r>
              <a:t>Can support training and decision making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9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Architecture of an Expert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377440"/>
            <a:ext cx="2057400" cy="914400"/>
          </a:xfrm>
          <a:prstGeom prst="roundRect">
            <a:avLst/>
          </a:prstGeom>
          <a:solidFill>
            <a:srgbClr val="EEF5FC"/>
          </a:solidFill>
          <a:ln>
            <a:solidFill>
              <a:srgbClr val="2C66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2560320"/>
            <a:ext cx="1920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93050"/>
                </a:solidFill>
              </a:defRPr>
            </a:pPr>
            <a:r>
              <a:t>User Interface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2377440"/>
            <a:ext cx="2057400" cy="914400"/>
          </a:xfrm>
          <a:prstGeom prst="roundRect">
            <a:avLst/>
          </a:prstGeom>
          <a:solidFill>
            <a:srgbClr val="EEF5FC"/>
          </a:solidFill>
          <a:ln>
            <a:solidFill>
              <a:srgbClr val="2C66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44952" y="2560320"/>
            <a:ext cx="1920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93050"/>
                </a:solidFill>
              </a:defRPr>
            </a:pPr>
            <a:r>
              <a:t>Inference Engine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2377440"/>
            <a:ext cx="2057400" cy="914400"/>
          </a:xfrm>
          <a:prstGeom prst="roundRect">
            <a:avLst/>
          </a:prstGeom>
          <a:solidFill>
            <a:srgbClr val="EEF5FC"/>
          </a:solidFill>
          <a:ln>
            <a:solidFill>
              <a:srgbClr val="2C66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59552" y="2560320"/>
            <a:ext cx="1920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93050"/>
                </a:solidFill>
              </a:defRPr>
            </a:pPr>
            <a:r>
              <a:t>Knowledge Base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2377440"/>
            <a:ext cx="2057400" cy="914400"/>
          </a:xfrm>
          <a:prstGeom prst="roundRect">
            <a:avLst/>
          </a:prstGeom>
          <a:solidFill>
            <a:srgbClr val="EEF5FC"/>
          </a:solidFill>
          <a:ln>
            <a:solidFill>
              <a:srgbClr val="2C66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74152" y="2560320"/>
            <a:ext cx="1920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93050"/>
                </a:solidFill>
              </a:defRPr>
            </a:pPr>
            <a:r>
              <a:t>Working Memory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4114800"/>
            <a:ext cx="2057400" cy="914400"/>
          </a:xfrm>
          <a:prstGeom prst="roundRect">
            <a:avLst/>
          </a:prstGeom>
          <a:solidFill>
            <a:srgbClr val="EEF5FC"/>
          </a:solidFill>
          <a:ln>
            <a:solidFill>
              <a:srgbClr val="2C66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59552" y="4297680"/>
            <a:ext cx="1920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93050"/>
                </a:solidFill>
              </a:defRPr>
            </a:pPr>
            <a:r>
              <a:t>Explanation Module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6040" y="2834640"/>
            <a:ext cx="365760" cy="0"/>
          </a:xfrm>
          <a:prstGeom prst="line">
            <a:avLst/>
          </a:prstGeom>
          <a:ln>
            <a:solidFill>
              <a:srgbClr val="2C66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029200" y="2834640"/>
            <a:ext cx="457200" cy="0"/>
          </a:xfrm>
          <a:prstGeom prst="line">
            <a:avLst/>
          </a:prstGeom>
          <a:ln>
            <a:solidFill>
              <a:srgbClr val="2C66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543800" y="2834640"/>
            <a:ext cx="457200" cy="0"/>
          </a:xfrm>
          <a:prstGeom prst="line">
            <a:avLst/>
          </a:prstGeom>
          <a:ln>
            <a:solidFill>
              <a:srgbClr val="2C66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6537960" y="3291840"/>
            <a:ext cx="2468880" cy="822960"/>
          </a:xfrm>
          <a:prstGeom prst="line">
            <a:avLst/>
          </a:prstGeom>
          <a:ln>
            <a:solidFill>
              <a:srgbClr val="2C66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4023360" y="3291840"/>
            <a:ext cx="2468880" cy="822960"/>
          </a:xfrm>
          <a:prstGeom prst="line">
            <a:avLst/>
          </a:prstGeom>
          <a:ln>
            <a:solidFill>
              <a:srgbClr val="2C66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31520" y="5074920"/>
            <a:ext cx="10789920" cy="1005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23282D"/>
                </a:solidFill>
              </a:defRPr>
            </a:pPr>
            <a:r>
              <a:t>Knowledge Base: facts, rules, relationships and domain knowledge.</a:t>
            </a:r>
          </a:p>
          <a:p>
            <a:pPr>
              <a:spcAft>
                <a:spcPts val="1000"/>
              </a:spcAft>
              <a:defRPr sz="1400" b="0">
                <a:solidFill>
                  <a:srgbClr val="23282D"/>
                </a:solidFill>
              </a:defRPr>
            </a:pPr>
            <a:r>
              <a:t>Inference Engine: applies rules to facts to derive new information.</a:t>
            </a:r>
          </a:p>
          <a:p>
            <a:pPr>
              <a:spcAft>
                <a:spcPts val="1000"/>
              </a:spcAft>
              <a:defRPr sz="1400" b="0">
                <a:solidFill>
                  <a:srgbClr val="23282D"/>
                </a:solidFill>
              </a:defRPr>
            </a:pPr>
            <a:r>
              <a:t>Working Memory: stores current facts and intermediate results.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9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" y="6419088"/>
            <a:ext cx="9875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87878"/>
                </a:solidFill>
              </a:defRPr>
            </a:pPr>
            <a:r>
              <a:t>Teaching note: Explain the flow: user query → working memory/inference engine → knowledge base → conclusion/explanation.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2. Knowledge Representation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282D"/>
                </a:solidFill>
              </a:defRPr>
            </a:pPr>
            <a:r>
              <a:t>Knowledge representation (KR) is the process of encoding information so that a computer can reason with it.</a:t>
            </a:r>
          </a:p>
          <a:p>
            <a:pPr>
              <a:spcAft>
                <a:spcPts val="1000"/>
              </a:spcAft>
              <a:defRPr sz="2000" b="0">
                <a:solidFill>
                  <a:srgbClr val="23282D"/>
                </a:solidFill>
              </a:defRPr>
            </a:pPr>
            <a:r>
              <a:t>For this syllabus, two important logical forms are propositional logic and predicate logic.</a:t>
            </a:r>
          </a:p>
          <a:p>
            <a:pPr>
              <a:spcAft>
                <a:spcPts val="1000"/>
              </a:spcAft>
              <a:defRPr sz="2000" b="0">
                <a:solidFill>
                  <a:srgbClr val="23282D"/>
                </a:solidFill>
              </a:defRPr>
            </a:pPr>
            <a:r>
              <a:t>A useful representation must be clear, precise, and suitable for inference.</a:t>
            </a:r>
          </a:p>
          <a:p>
            <a:pPr>
              <a:spcAft>
                <a:spcPts val="1000"/>
              </a:spcAft>
              <a:defRPr sz="2000" b="0">
                <a:solidFill>
                  <a:srgbClr val="23282D"/>
                </a:solidFill>
              </a:defRPr>
            </a:pPr>
            <a:r>
              <a:t>Typical knowledge consists of facts, rules, properties, relations, and constraints.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9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Propositional Logic in Expert Systems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5394960" cy="4892040"/>
          </a:xfrm>
          <a:prstGeom prst="roundRect">
            <a:avLst/>
          </a:prstGeom>
          <a:solidFill>
            <a:srgbClr val="EEF5FC"/>
          </a:solidFill>
          <a:ln>
            <a:solidFill>
              <a:srgbClr val="2C66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44752"/>
            <a:ext cx="4937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C66B0"/>
                </a:solidFill>
              </a:defRPr>
            </a:pPr>
            <a:r>
              <a:t>Basic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01952"/>
            <a:ext cx="4892040" cy="3886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3282D"/>
                </a:solidFill>
              </a:defRPr>
            </a:pPr>
            <a:r>
              <a:t>A proposition is a statement that is either True or False.</a:t>
            </a:r>
          </a:p>
          <a:p>
            <a:pPr>
              <a:spcAft>
                <a:spcPts val="1000"/>
              </a:spcAft>
              <a:defRPr sz="1700" b="0">
                <a:solidFill>
                  <a:srgbClr val="23282D"/>
                </a:solidFill>
              </a:defRPr>
            </a:pPr>
            <a:r>
              <a:t>Use symbols such as P, Q, R to represent propositions.</a:t>
            </a:r>
          </a:p>
          <a:p>
            <a:pPr>
              <a:spcAft>
                <a:spcPts val="1000"/>
              </a:spcAft>
              <a:defRPr sz="1700" b="0">
                <a:solidFill>
                  <a:srgbClr val="23282D"/>
                </a:solidFill>
              </a:defRPr>
            </a:pPr>
            <a:r>
              <a:t>Connect propositions using logical connectives.</a:t>
            </a:r>
          </a:p>
          <a:p>
            <a:pPr>
              <a:spcAft>
                <a:spcPts val="1000"/>
              </a:spcAft>
              <a:defRPr sz="1700" b="0">
                <a:solidFill>
                  <a:srgbClr val="23282D"/>
                </a:solidFill>
              </a:defRPr>
            </a:pPr>
            <a:r>
              <a:t>AND (∧), OR (∨), NOT (¬), implication (→), biconditional (↔).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234440"/>
            <a:ext cx="5394960" cy="4892040"/>
          </a:xfrm>
          <a:prstGeom prst="roundRect">
            <a:avLst/>
          </a:prstGeom>
          <a:solidFill>
            <a:srgbClr val="EEF5FC"/>
          </a:solidFill>
          <a:ln>
            <a:solidFill>
              <a:srgbClr val="2C66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44752"/>
            <a:ext cx="4937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C66B0"/>
                </a:solidFill>
              </a:defRPr>
            </a:pPr>
            <a:r>
              <a:t>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01952"/>
            <a:ext cx="4892040" cy="3886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3282D"/>
                </a:solidFill>
              </a:defRPr>
            </a:pPr>
            <a:r>
              <a:t>P: Patient has fever.</a:t>
            </a:r>
          </a:p>
          <a:p>
            <a:pPr>
              <a:spcAft>
                <a:spcPts val="1000"/>
              </a:spcAft>
              <a:defRPr sz="1700" b="0">
                <a:solidFill>
                  <a:srgbClr val="23282D"/>
                </a:solidFill>
              </a:defRPr>
            </a:pPr>
            <a:r>
              <a:t>Q: Patient has cough.</a:t>
            </a:r>
          </a:p>
          <a:p>
            <a:pPr>
              <a:spcAft>
                <a:spcPts val="1000"/>
              </a:spcAft>
              <a:defRPr sz="1700" b="0">
                <a:solidFill>
                  <a:srgbClr val="23282D"/>
                </a:solidFill>
              </a:defRPr>
            </a:pPr>
            <a:r>
              <a:t>Rule: P ∧ Q → Flu.</a:t>
            </a:r>
          </a:p>
          <a:p>
            <a:pPr>
              <a:spcAft>
                <a:spcPts val="1000"/>
              </a:spcAft>
              <a:defRPr sz="1700" b="0">
                <a:solidFill>
                  <a:srgbClr val="23282D"/>
                </a:solidFill>
              </a:defRPr>
            </a:pPr>
            <a:r>
              <a:t>If P and Q are true, the system can infer Flu.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9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" y="6419088"/>
            <a:ext cx="9875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87878"/>
                </a:solidFill>
              </a:defRPr>
            </a:pPr>
            <a:r>
              <a:t>Teaching note: Connect propositional symbols and logical connectives with rule representation.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Predicate Logic in Expert Systems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5394960" cy="4892040"/>
          </a:xfrm>
          <a:prstGeom prst="roundRect">
            <a:avLst/>
          </a:prstGeom>
          <a:solidFill>
            <a:srgbClr val="EEF5FC"/>
          </a:solidFill>
          <a:ln>
            <a:solidFill>
              <a:srgbClr val="2C66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44752"/>
            <a:ext cx="4937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C66B0"/>
                </a:solidFill>
              </a:defRPr>
            </a:pPr>
            <a:r>
              <a:t>Why Predicate Logic?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01952"/>
            <a:ext cx="4892040" cy="3886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3282D"/>
                </a:solidFill>
              </a:defRPr>
            </a:pPr>
            <a:r>
              <a:t>Represents objects, properties and relationships.</a:t>
            </a:r>
          </a:p>
          <a:p>
            <a:pPr>
              <a:spcAft>
                <a:spcPts val="1000"/>
              </a:spcAft>
              <a:defRPr sz="1700" b="0">
                <a:solidFill>
                  <a:srgbClr val="23282D"/>
                </a:solidFill>
              </a:defRPr>
            </a:pPr>
            <a:r>
              <a:t>Uses predicates such as HasFever(x).</a:t>
            </a:r>
          </a:p>
          <a:p>
            <a:pPr>
              <a:spcAft>
                <a:spcPts val="1000"/>
              </a:spcAft>
              <a:defRPr sz="1700" b="0">
                <a:solidFill>
                  <a:srgbClr val="23282D"/>
                </a:solidFill>
              </a:defRPr>
            </a:pPr>
            <a:r>
              <a:t>Variables allow rules to apply to many objects.</a:t>
            </a:r>
          </a:p>
          <a:p>
            <a:pPr>
              <a:spcAft>
                <a:spcPts val="1000"/>
              </a:spcAft>
              <a:defRPr sz="1700" b="0">
                <a:solidFill>
                  <a:srgbClr val="23282D"/>
                </a:solidFill>
              </a:defRPr>
            </a:pPr>
            <a:r>
              <a:t>Quantifiers express general knowledge.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234440"/>
            <a:ext cx="5394960" cy="4892040"/>
          </a:xfrm>
          <a:prstGeom prst="roundRect">
            <a:avLst/>
          </a:prstGeom>
          <a:solidFill>
            <a:srgbClr val="EEF5FC"/>
          </a:solidFill>
          <a:ln>
            <a:solidFill>
              <a:srgbClr val="2C66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44752"/>
            <a:ext cx="4937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C66B0"/>
                </a:solidFill>
              </a:defRPr>
            </a:pPr>
            <a:r>
              <a:t>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01952"/>
            <a:ext cx="4892040" cy="3886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3282D"/>
                </a:solidFill>
              </a:defRPr>
            </a:pPr>
            <a:r>
              <a:t>Human(x) → Mortal(x)</a:t>
            </a:r>
          </a:p>
          <a:p>
            <a:pPr>
              <a:spcAft>
                <a:spcPts val="1000"/>
              </a:spcAft>
              <a:defRPr sz="1700" b="0">
                <a:solidFill>
                  <a:srgbClr val="23282D"/>
                </a:solidFill>
              </a:defRPr>
            </a:pPr>
            <a:r>
              <a:t>Human(Ali)</a:t>
            </a:r>
          </a:p>
          <a:p>
            <a:pPr>
              <a:spcAft>
                <a:spcPts val="1000"/>
              </a:spcAft>
              <a:defRPr sz="1700" b="0">
                <a:solidFill>
                  <a:srgbClr val="23282D"/>
                </a:solidFill>
              </a:defRPr>
            </a:pPr>
            <a:r>
              <a:t>Therefore: Mortal(Ali)</a:t>
            </a:r>
          </a:p>
          <a:p>
            <a:pPr>
              <a:spcAft>
                <a:spcPts val="1000"/>
              </a:spcAft>
              <a:defRPr sz="1700" b="0">
                <a:solidFill>
                  <a:srgbClr val="23282D"/>
                </a:solidFill>
              </a:defRPr>
            </a:pPr>
            <a:r>
              <a:t>This is more expressive than treating every statement as an unrelated proposition.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9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" y="6419088"/>
            <a:ext cx="9875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87878"/>
                </a:solidFill>
              </a:defRPr>
            </a:pPr>
            <a:r>
              <a:t>Teaching note: Explain why predicates are useful when the same rule applies to different objects.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3. Rules of Inference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282D"/>
                </a:solidFill>
              </a:defRPr>
            </a:pPr>
            <a:r>
              <a:t>Rules of inference are valid patterns used to derive a conclusion from premises.</a:t>
            </a:r>
          </a:p>
          <a:p>
            <a:pPr>
              <a:spcAft>
                <a:spcPts val="1000"/>
              </a:spcAft>
              <a:defRPr sz="2000" b="0">
                <a:solidFill>
                  <a:srgbClr val="23282D"/>
                </a:solidFill>
              </a:defRPr>
            </a:pPr>
            <a:r>
              <a:t>They provide the logical foundation for expert-system reasoning.</a:t>
            </a:r>
          </a:p>
          <a:p>
            <a:pPr>
              <a:spcAft>
                <a:spcPts val="1000"/>
              </a:spcAft>
              <a:defRPr sz="2000" b="0">
                <a:solidFill>
                  <a:srgbClr val="23282D"/>
                </a:solidFill>
              </a:defRPr>
            </a:pPr>
            <a:r>
              <a:t>Important patterns include Modus Ponens, Modus Tollens, Hypothetical Syllogism and Disjunctive Syllogism.</a:t>
            </a:r>
          </a:p>
          <a:p>
            <a:pPr>
              <a:spcAft>
                <a:spcPts val="1000"/>
              </a:spcAft>
              <a:defRPr sz="2000" b="0">
                <a:solidFill>
                  <a:srgbClr val="23282D"/>
                </a:solidFill>
              </a:defRPr>
            </a:pPr>
            <a:r>
              <a:t>In an expert system, rules are often written in IF–THEN form.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794760"/>
            <a:ext cx="9875520" cy="1371600"/>
          </a:xfrm>
          <a:prstGeom prst="roundRect">
            <a:avLst/>
          </a:prstGeom>
          <a:solidFill>
            <a:srgbClr val="F8F8F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3977640"/>
            <a:ext cx="9418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3282D"/>
                </a:solidFill>
                <a:latin typeface="Consolas"/>
              </a:defRPr>
            </a:pPr>
            <a:r>
              <a:t>IF  Fever(x) AND Cough(x)</a:t>
            </a:r>
          </a:p>
          <a:p>
            <a:pPr>
              <a:spcAft>
                <a:spcPts val="600"/>
              </a:spcAft>
              <a:defRPr sz="1800">
                <a:solidFill>
                  <a:srgbClr val="23282D"/>
                </a:solidFill>
                <a:latin typeface="Consolas"/>
              </a:defRPr>
            </a:pPr>
            <a:r>
              <a:t>THEN  SuspectedFlu(x)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9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Modus Ponens – Basic Inference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463040"/>
            <a:ext cx="9418320" cy="1920240"/>
          </a:xfrm>
          <a:prstGeom prst="roundRect">
            <a:avLst/>
          </a:prstGeom>
          <a:solidFill>
            <a:srgbClr val="F8F8F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00200" y="1645920"/>
            <a:ext cx="8961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3282D"/>
                </a:solidFill>
                <a:latin typeface="Consolas"/>
              </a:defRPr>
            </a:pPr>
            <a:r>
              <a:t>Premise 1:  P → Q</a:t>
            </a:r>
          </a:p>
          <a:p>
            <a:pPr>
              <a:spcAft>
                <a:spcPts val="600"/>
              </a:spcAft>
              <a:defRPr sz="1800">
                <a:solidFill>
                  <a:srgbClr val="23282D"/>
                </a:solidFill>
                <a:latin typeface="Consolas"/>
              </a:defRPr>
            </a:pPr>
            <a:r>
              <a:t>Premise 2:  P</a:t>
            </a:r>
          </a:p>
          <a:p>
            <a:pPr>
              <a:spcAft>
                <a:spcPts val="600"/>
              </a:spcAft>
              <a:defRPr sz="1800">
                <a:solidFill>
                  <a:srgbClr val="23282D"/>
                </a:solidFill>
                <a:latin typeface="Consolas"/>
              </a:defRPr>
            </a:pPr>
            <a:r>
              <a:t>Conclusion: 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840480"/>
            <a:ext cx="9875520" cy="1645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282D"/>
                </a:solidFill>
              </a:defRPr>
            </a:pPr>
            <a:r>
              <a:t>Example: If a server is overloaded, response time increases.</a:t>
            </a:r>
          </a:p>
          <a:p>
            <a:pPr>
              <a:spcAft>
                <a:spcPts val="1000"/>
              </a:spcAft>
              <a:defRPr sz="2000" b="0">
                <a:solidFill>
                  <a:srgbClr val="23282D"/>
                </a:solidFill>
              </a:defRPr>
            </a:pPr>
            <a:r>
              <a:t>The server is overloaded.</a:t>
            </a:r>
          </a:p>
          <a:p>
            <a:pPr>
              <a:spcAft>
                <a:spcPts val="1000"/>
              </a:spcAft>
              <a:defRPr sz="2000" b="0">
                <a:solidFill>
                  <a:srgbClr val="23282D"/>
                </a:solidFill>
              </a:defRPr>
            </a:pPr>
            <a:r>
              <a:t>Therefore, response time increases.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9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Modus Tollens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463040"/>
            <a:ext cx="9418320" cy="1920240"/>
          </a:xfrm>
          <a:prstGeom prst="roundRect">
            <a:avLst/>
          </a:prstGeom>
          <a:solidFill>
            <a:srgbClr val="F8F8F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00200" y="1645920"/>
            <a:ext cx="8961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3282D"/>
                </a:solidFill>
                <a:latin typeface="Consolas"/>
              </a:defRPr>
            </a:pPr>
            <a:r>
              <a:t>Premise 1:  P → Q</a:t>
            </a:r>
          </a:p>
          <a:p>
            <a:pPr>
              <a:spcAft>
                <a:spcPts val="600"/>
              </a:spcAft>
              <a:defRPr sz="1800">
                <a:solidFill>
                  <a:srgbClr val="23282D"/>
                </a:solidFill>
                <a:latin typeface="Consolas"/>
              </a:defRPr>
            </a:pPr>
            <a:r>
              <a:t>Premise 2:  ¬Q</a:t>
            </a:r>
          </a:p>
          <a:p>
            <a:pPr>
              <a:spcAft>
                <a:spcPts val="600"/>
              </a:spcAft>
              <a:defRPr sz="1800">
                <a:solidFill>
                  <a:srgbClr val="23282D"/>
                </a:solidFill>
                <a:latin typeface="Consolas"/>
              </a:defRPr>
            </a:pPr>
            <a:r>
              <a:t>Conclusion: ¬P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840480"/>
            <a:ext cx="9875520" cy="1645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282D"/>
                </a:solidFill>
              </a:defRPr>
            </a:pPr>
            <a:r>
              <a:t>Example: If the network is connected, the server can be reached.</a:t>
            </a:r>
          </a:p>
          <a:p>
            <a:pPr>
              <a:spcAft>
                <a:spcPts val="1000"/>
              </a:spcAft>
              <a:defRPr sz="2000" b="0">
                <a:solidFill>
                  <a:srgbClr val="23282D"/>
                </a:solidFill>
              </a:defRPr>
            </a:pPr>
            <a:r>
              <a:t>The server cannot be reached (under the stated assumptions).</a:t>
            </a:r>
          </a:p>
          <a:p>
            <a:pPr>
              <a:spcAft>
                <a:spcPts val="1000"/>
              </a:spcAft>
              <a:defRPr sz="2000" b="0">
                <a:solidFill>
                  <a:srgbClr val="23282D"/>
                </a:solidFill>
              </a:defRPr>
            </a:pPr>
            <a:r>
              <a:t>Therefore, the network may not be connected.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9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Expert-System Example: Medical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3282D"/>
                </a:solidFill>
              </a:defRPr>
            </a:pPr>
            <a:r>
              <a:t>Facts: Fever, cough and fatigue are observed.</a:t>
            </a:r>
          </a:p>
          <a:p>
            <a:pPr>
              <a:spcAft>
                <a:spcPts val="1000"/>
              </a:spcAft>
              <a:defRPr sz="1800" b="0">
                <a:solidFill>
                  <a:srgbClr val="23282D"/>
                </a:solidFill>
              </a:defRPr>
            </a:pPr>
            <a:r>
              <a:t>Rule 1: Fever ∧ Cough → RespiratoryInfection.</a:t>
            </a:r>
          </a:p>
          <a:p>
            <a:pPr>
              <a:spcAft>
                <a:spcPts val="1000"/>
              </a:spcAft>
              <a:defRPr sz="1800" b="0">
                <a:solidFill>
                  <a:srgbClr val="23282D"/>
                </a:solidFill>
              </a:defRPr>
            </a:pPr>
            <a:r>
              <a:t>Rule 2: RespiratoryInfection ∧ Fatigue → SuspectedFlu.</a:t>
            </a:r>
          </a:p>
          <a:p>
            <a:pPr>
              <a:spcAft>
                <a:spcPts val="1000"/>
              </a:spcAft>
              <a:defRPr sz="1800" b="0">
                <a:solidFill>
                  <a:srgbClr val="23282D"/>
                </a:solidFill>
              </a:defRPr>
            </a:pPr>
            <a:r>
              <a:t>Inference engine checks which rules match the known facts.</a:t>
            </a:r>
          </a:p>
          <a:p>
            <a:pPr>
              <a:spcAft>
                <a:spcPts val="1000"/>
              </a:spcAft>
              <a:defRPr sz="1800" b="0">
                <a:solidFill>
                  <a:srgbClr val="23282D"/>
                </a:solidFill>
              </a:defRPr>
            </a:pPr>
            <a:r>
              <a:t>Conclusion: SuspectedFlu is derived.</a:t>
            </a:r>
          </a:p>
          <a:p>
            <a:pPr>
              <a:spcAft>
                <a:spcPts val="1000"/>
              </a:spcAft>
              <a:defRPr sz="1800" b="0">
                <a:solidFill>
                  <a:srgbClr val="23282D"/>
                </a:solidFill>
              </a:defRPr>
            </a:pPr>
            <a:r>
              <a:t>Important: a real medical system must be validated and should support, not replace, qualified clinical judgment.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9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Forward Chaining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282D"/>
                </a:solidFill>
              </a:defRPr>
            </a:pPr>
            <a:r>
              <a:t>Forward chaining is data-driven reasoning.</a:t>
            </a:r>
          </a:p>
          <a:p>
            <a:pPr>
              <a:spcAft>
                <a:spcPts val="1000"/>
              </a:spcAft>
              <a:defRPr sz="2000" b="0">
                <a:solidFill>
                  <a:srgbClr val="23282D"/>
                </a:solidFill>
              </a:defRPr>
            </a:pPr>
            <a:r>
              <a:t>Start with known facts and repeatedly apply rules whose conditions are satisfied.</a:t>
            </a:r>
          </a:p>
          <a:p>
            <a:pPr>
              <a:spcAft>
                <a:spcPts val="1000"/>
              </a:spcAft>
              <a:defRPr sz="2000" b="0">
                <a:solidFill>
                  <a:srgbClr val="23282D"/>
                </a:solidFill>
              </a:defRPr>
            </a:pPr>
            <a:r>
              <a:t>New conclusions are added to working memory.</a:t>
            </a:r>
          </a:p>
          <a:p>
            <a:pPr>
              <a:spcAft>
                <a:spcPts val="1000"/>
              </a:spcAft>
              <a:defRPr sz="2000" b="0">
                <a:solidFill>
                  <a:srgbClr val="23282D"/>
                </a:solidFill>
              </a:defRPr>
            </a:pPr>
            <a:r>
              <a:t>Continue until the target conclusion is reached or no more rules can fire.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657600"/>
            <a:ext cx="10515600" cy="1828800"/>
          </a:xfrm>
          <a:prstGeom prst="roundRect">
            <a:avLst/>
          </a:prstGeom>
          <a:solidFill>
            <a:srgbClr val="F8F8F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3282D"/>
                </a:solidFill>
                <a:latin typeface="Consolas"/>
              </a:defRPr>
            </a:pPr>
            <a:r>
              <a:t>Facts:      Fever, Cough</a:t>
            </a:r>
          </a:p>
          <a:p>
            <a:pPr>
              <a:spcAft>
                <a:spcPts val="600"/>
              </a:spcAft>
              <a:defRPr sz="1800">
                <a:solidFill>
                  <a:srgbClr val="23282D"/>
                </a:solidFill>
                <a:latin typeface="Consolas"/>
              </a:defRPr>
            </a:pPr>
            <a:r>
              <a:t>Rule 1:    Fever ∧ Cough → Infection</a:t>
            </a:r>
          </a:p>
          <a:p>
            <a:pPr>
              <a:spcAft>
                <a:spcPts val="600"/>
              </a:spcAft>
              <a:defRPr sz="1800">
                <a:solidFill>
                  <a:srgbClr val="23282D"/>
                </a:solidFill>
                <a:latin typeface="Consolas"/>
              </a:defRPr>
            </a:pPr>
            <a:r>
              <a:t>Rule 2:    Infection ∧ Fatigue → SuspectedFlu</a:t>
            </a:r>
          </a:p>
          <a:p>
            <a:pPr>
              <a:spcAft>
                <a:spcPts val="600"/>
              </a:spcAft>
              <a:defRPr sz="1800">
                <a:solidFill>
                  <a:srgbClr val="23282D"/>
                </a:solidFill>
                <a:latin typeface="Consolas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3282D"/>
                </a:solidFill>
                <a:latin typeface="Consolas"/>
              </a:defRPr>
            </a:pPr>
            <a:r>
              <a:t>Result:    Infection  →  SuspectedFlu (if Fatigue is known)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9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419088"/>
            <a:ext cx="9875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87878"/>
                </a:solidFill>
              </a:defRPr>
            </a:pPr>
            <a:r>
              <a:t>Teaching note: Demonstrate forward chaining by adding one derived fact at a time.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Backward Chaining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282D"/>
                </a:solidFill>
              </a:defRPr>
            </a:pPr>
            <a:r>
              <a:t>Backward chaining is goal-driven reasoning.</a:t>
            </a:r>
          </a:p>
          <a:p>
            <a:pPr>
              <a:spcAft>
                <a:spcPts val="1000"/>
              </a:spcAft>
              <a:defRPr sz="2000" b="0">
                <a:solidFill>
                  <a:srgbClr val="23282D"/>
                </a:solidFill>
              </a:defRPr>
            </a:pPr>
            <a:r>
              <a:t>Start with a desired conclusion (goal) and work backward to find rules that could prove it.</a:t>
            </a:r>
          </a:p>
          <a:p>
            <a:pPr>
              <a:spcAft>
                <a:spcPts val="1000"/>
              </a:spcAft>
              <a:defRPr sz="2000" b="0">
                <a:solidFill>
                  <a:srgbClr val="23282D"/>
                </a:solidFill>
              </a:defRPr>
            </a:pPr>
            <a:r>
              <a:t>The system then checks whether the required premises are known or can be proved.</a:t>
            </a:r>
          </a:p>
          <a:p>
            <a:pPr>
              <a:spcAft>
                <a:spcPts val="1000"/>
              </a:spcAft>
              <a:defRPr sz="2000" b="0">
                <a:solidFill>
                  <a:srgbClr val="23282D"/>
                </a:solidFill>
              </a:defRPr>
            </a:pPr>
            <a:r>
              <a:t>Common in diagnostic and rule-based systems where the goal is specific.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703320"/>
            <a:ext cx="9966960" cy="1965960"/>
          </a:xfrm>
          <a:prstGeom prst="roundRect">
            <a:avLst/>
          </a:prstGeom>
          <a:solidFill>
            <a:srgbClr val="F8F8F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3886200"/>
            <a:ext cx="95097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3282D"/>
                </a:solidFill>
                <a:latin typeface="Consolas"/>
              </a:defRPr>
            </a:pPr>
            <a:r>
              <a:t>Goal: SuspectedFlu</a:t>
            </a:r>
          </a:p>
          <a:p>
            <a:pPr>
              <a:spcAft>
                <a:spcPts val="600"/>
              </a:spcAft>
              <a:defRPr sz="1800">
                <a:solidFill>
                  <a:srgbClr val="23282D"/>
                </a:solidFill>
                <a:latin typeface="Consolas"/>
              </a:defRPr>
            </a:pPr>
            <a:r>
              <a:t>   ↑</a:t>
            </a:r>
          </a:p>
          <a:p>
            <a:pPr>
              <a:spcAft>
                <a:spcPts val="600"/>
              </a:spcAft>
              <a:defRPr sz="1800">
                <a:solidFill>
                  <a:srgbClr val="23282D"/>
                </a:solidFill>
                <a:latin typeface="Consolas"/>
              </a:defRPr>
            </a:pPr>
            <a:r>
              <a:t>Rule: Infection ∧ Fatigue → SuspectedFlu</a:t>
            </a:r>
          </a:p>
          <a:p>
            <a:pPr>
              <a:spcAft>
                <a:spcPts val="600"/>
              </a:spcAft>
              <a:defRPr sz="1800">
                <a:solidFill>
                  <a:srgbClr val="23282D"/>
                </a:solidFill>
                <a:latin typeface="Consolas"/>
              </a:defRPr>
            </a:pPr>
            <a:r>
              <a:t>   ↑</a:t>
            </a:r>
          </a:p>
          <a:p>
            <a:pPr>
              <a:spcAft>
                <a:spcPts val="600"/>
              </a:spcAft>
              <a:defRPr sz="1800">
                <a:solidFill>
                  <a:srgbClr val="23282D"/>
                </a:solidFill>
                <a:latin typeface="Consolas"/>
              </a:defRPr>
            </a:pPr>
            <a:r>
              <a:t>Need to prove: Infection and Fatigue</a:t>
            </a:r>
          </a:p>
          <a:p>
            <a:pPr>
              <a:spcAft>
                <a:spcPts val="600"/>
              </a:spcAft>
              <a:defRPr sz="1800">
                <a:solidFill>
                  <a:srgbClr val="23282D"/>
                </a:solidFill>
                <a:latin typeface="Consolas"/>
              </a:defRPr>
            </a:pPr>
            <a:r>
              <a:t>   ↑</a:t>
            </a:r>
          </a:p>
          <a:p>
            <a:pPr>
              <a:spcAft>
                <a:spcPts val="600"/>
              </a:spcAft>
              <a:defRPr sz="1800">
                <a:solidFill>
                  <a:srgbClr val="23282D"/>
                </a:solidFill>
                <a:latin typeface="Consolas"/>
              </a:defRPr>
            </a:pPr>
            <a:r>
              <a:t>Check rules/facts that can establish them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9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419088"/>
            <a:ext cx="9875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87878"/>
                </a:solidFill>
              </a:defRPr>
            </a:pPr>
            <a:r>
              <a:t>Teaching note: Demonstrate how a goal causes the system to search for supporting rules and facts.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Forward vs. Backward Chaining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5394960" cy="4892040"/>
          </a:xfrm>
          <a:prstGeom prst="roundRect">
            <a:avLst/>
          </a:prstGeom>
          <a:solidFill>
            <a:srgbClr val="EEF5FC"/>
          </a:solidFill>
          <a:ln>
            <a:solidFill>
              <a:srgbClr val="2C66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44752"/>
            <a:ext cx="4937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C66B0"/>
                </a:solidFill>
              </a:defRPr>
            </a:pPr>
            <a:r>
              <a:t>Forward Chaining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01952"/>
            <a:ext cx="4892040" cy="3886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3282D"/>
                </a:solidFill>
              </a:defRPr>
            </a:pPr>
            <a:r>
              <a:t>Starts from facts</a:t>
            </a:r>
          </a:p>
          <a:p>
            <a:pPr>
              <a:spcAft>
                <a:spcPts val="1000"/>
              </a:spcAft>
              <a:defRPr sz="1700" b="0">
                <a:solidFill>
                  <a:srgbClr val="23282D"/>
                </a:solidFill>
              </a:defRPr>
            </a:pPr>
            <a:r>
              <a:t>Data-driven</a:t>
            </a:r>
          </a:p>
          <a:p>
            <a:pPr>
              <a:spcAft>
                <a:spcPts val="1000"/>
              </a:spcAft>
              <a:defRPr sz="1700" b="0">
                <a:solidFill>
                  <a:srgbClr val="23282D"/>
                </a:solidFill>
              </a:defRPr>
            </a:pPr>
            <a:r>
              <a:t>Moves toward possible conclusions</a:t>
            </a:r>
          </a:p>
          <a:p>
            <a:pPr>
              <a:spcAft>
                <a:spcPts val="1000"/>
              </a:spcAft>
              <a:defRPr sz="1700" b="0">
                <a:solidFill>
                  <a:srgbClr val="23282D"/>
                </a:solidFill>
              </a:defRPr>
            </a:pPr>
            <a:r>
              <a:t>Useful when many facts arrive continuously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234440"/>
            <a:ext cx="5394960" cy="4892040"/>
          </a:xfrm>
          <a:prstGeom prst="roundRect">
            <a:avLst/>
          </a:prstGeom>
          <a:solidFill>
            <a:srgbClr val="EEF5FC"/>
          </a:solidFill>
          <a:ln>
            <a:solidFill>
              <a:srgbClr val="2C66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44752"/>
            <a:ext cx="4937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C66B0"/>
                </a:solidFill>
              </a:defRPr>
            </a:pPr>
            <a:r>
              <a:t>Backward Chaining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01952"/>
            <a:ext cx="4892040" cy="3886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3282D"/>
                </a:solidFill>
              </a:defRPr>
            </a:pPr>
            <a:r>
              <a:t>Starts from a goal</a:t>
            </a:r>
          </a:p>
          <a:p>
            <a:pPr>
              <a:spcAft>
                <a:spcPts val="1000"/>
              </a:spcAft>
              <a:defRPr sz="1700" b="0">
                <a:solidFill>
                  <a:srgbClr val="23282D"/>
                </a:solidFill>
              </a:defRPr>
            </a:pPr>
            <a:r>
              <a:t>Goal-driven</a:t>
            </a:r>
          </a:p>
          <a:p>
            <a:pPr>
              <a:spcAft>
                <a:spcPts val="1000"/>
              </a:spcAft>
              <a:defRPr sz="1700" b="0">
                <a:solidFill>
                  <a:srgbClr val="23282D"/>
                </a:solidFill>
              </a:defRPr>
            </a:pPr>
            <a:r>
              <a:t>Searches for supporting facts</a:t>
            </a:r>
          </a:p>
          <a:p>
            <a:pPr>
              <a:spcAft>
                <a:spcPts val="1000"/>
              </a:spcAft>
              <a:defRPr sz="1700" b="0">
                <a:solidFill>
                  <a:srgbClr val="23282D"/>
                </a:solidFill>
              </a:defRPr>
            </a:pPr>
            <a:r>
              <a:t>Useful for focused diagnosis/query answering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9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4. Automated Reasoning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282D"/>
                </a:solidFill>
              </a:defRPr>
            </a:pPr>
            <a:r>
              <a:t>Automated reasoning is the use of algorithms to derive logical conclusions without manually performing every reasoning step.</a:t>
            </a:r>
          </a:p>
          <a:p>
            <a:pPr>
              <a:spcAft>
                <a:spcPts val="1000"/>
              </a:spcAft>
              <a:defRPr sz="2000" b="0">
                <a:solidFill>
                  <a:srgbClr val="23282D"/>
                </a:solidFill>
              </a:defRPr>
            </a:pPr>
            <a:r>
              <a:t>A reasoning system may match facts with rules, select applicable rules, derive new facts, and check whether a goal has been proved.</a:t>
            </a:r>
          </a:p>
          <a:p>
            <a:pPr>
              <a:spcAft>
                <a:spcPts val="1000"/>
              </a:spcAft>
              <a:defRPr sz="2000" b="0">
                <a:solidFill>
                  <a:srgbClr val="23282D"/>
                </a:solidFill>
              </a:defRPr>
            </a:pPr>
            <a:r>
              <a:t>The process should preserve logical validity: conclusions should follow from the represented knowledge and rules.</a:t>
            </a:r>
          </a:p>
          <a:p>
            <a:pPr>
              <a:spcAft>
                <a:spcPts val="1000"/>
              </a:spcAft>
              <a:defRPr sz="2000" b="0">
                <a:solidFill>
                  <a:srgbClr val="23282D"/>
                </a:solidFill>
              </a:defRPr>
            </a:pPr>
            <a:r>
              <a:t>Typical building blocks: knowledge representation + inference mechanism + search/control strategy.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9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Worked Example: Troubleshooting a Computer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480560"/>
          </a:xfrm>
          <a:prstGeom prst="roundRect">
            <a:avLst/>
          </a:prstGeom>
          <a:solidFill>
            <a:srgbClr val="F8F8F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424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3282D"/>
                </a:solidFill>
                <a:latin typeface="Consolas"/>
              </a:defRPr>
            </a:pPr>
            <a:r>
              <a:t>Facts:</a:t>
            </a:r>
          </a:p>
          <a:p>
            <a:pPr>
              <a:spcAft>
                <a:spcPts val="600"/>
              </a:spcAft>
              <a:defRPr sz="1800">
                <a:solidFill>
                  <a:srgbClr val="23282D"/>
                </a:solidFill>
                <a:latin typeface="Consolas"/>
              </a:defRPr>
            </a:pPr>
            <a:r>
              <a:t>  PowerOn = True</a:t>
            </a:r>
          </a:p>
          <a:p>
            <a:pPr>
              <a:spcAft>
                <a:spcPts val="600"/>
              </a:spcAft>
              <a:defRPr sz="1800">
                <a:solidFill>
                  <a:srgbClr val="23282D"/>
                </a:solidFill>
                <a:latin typeface="Consolas"/>
              </a:defRPr>
            </a:pPr>
            <a:r>
              <a:t>  DisplayBlank = True</a:t>
            </a:r>
          </a:p>
          <a:p>
            <a:pPr>
              <a:spcAft>
                <a:spcPts val="600"/>
              </a:spcAft>
              <a:defRPr sz="1800">
                <a:solidFill>
                  <a:srgbClr val="23282D"/>
                </a:solidFill>
                <a:latin typeface="Consolas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3282D"/>
                </a:solidFill>
                <a:latin typeface="Consolas"/>
              </a:defRPr>
            </a:pPr>
            <a:r>
              <a:t>Rules:</a:t>
            </a:r>
          </a:p>
          <a:p>
            <a:pPr>
              <a:spcAft>
                <a:spcPts val="600"/>
              </a:spcAft>
              <a:defRPr sz="1800">
                <a:solidFill>
                  <a:srgbClr val="23282D"/>
                </a:solidFill>
                <a:latin typeface="Consolas"/>
              </a:defRPr>
            </a:pPr>
            <a:r>
              <a:t>  R1: PowerOn ∧ DisplayBlank → DisplayProblem</a:t>
            </a:r>
          </a:p>
          <a:p>
            <a:pPr>
              <a:spcAft>
                <a:spcPts val="600"/>
              </a:spcAft>
              <a:defRPr sz="1800">
                <a:solidFill>
                  <a:srgbClr val="23282D"/>
                </a:solidFill>
                <a:latin typeface="Consolas"/>
              </a:defRPr>
            </a:pPr>
            <a:r>
              <a:t>  R2: DisplayProblem → CheckMonitorCable</a:t>
            </a:r>
          </a:p>
          <a:p>
            <a:pPr>
              <a:spcAft>
                <a:spcPts val="600"/>
              </a:spcAft>
              <a:defRPr sz="1800">
                <a:solidFill>
                  <a:srgbClr val="23282D"/>
                </a:solidFill>
                <a:latin typeface="Consolas"/>
              </a:defRPr>
            </a:pPr>
            <a:r>
              <a:t>  R3: CableDisconnected → ReconnectCable</a:t>
            </a:r>
          </a:p>
          <a:p>
            <a:pPr>
              <a:spcAft>
                <a:spcPts val="600"/>
              </a:spcAft>
              <a:defRPr sz="1800">
                <a:solidFill>
                  <a:srgbClr val="23282D"/>
                </a:solidFill>
                <a:latin typeface="Consolas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3282D"/>
                </a:solidFill>
                <a:latin typeface="Consolas"/>
              </a:defRPr>
            </a:pPr>
            <a:r>
              <a:t>Inference:</a:t>
            </a:r>
          </a:p>
          <a:p>
            <a:pPr>
              <a:spcAft>
                <a:spcPts val="600"/>
              </a:spcAft>
              <a:defRPr sz="1800">
                <a:solidFill>
                  <a:srgbClr val="23282D"/>
                </a:solidFill>
                <a:latin typeface="Consolas"/>
              </a:defRPr>
            </a:pPr>
            <a:r>
              <a:t>  PowerOn + DisplayBlank</a:t>
            </a:r>
          </a:p>
          <a:p>
            <a:pPr>
              <a:spcAft>
                <a:spcPts val="600"/>
              </a:spcAft>
              <a:defRPr sz="1800">
                <a:solidFill>
                  <a:srgbClr val="23282D"/>
                </a:solidFill>
                <a:latin typeface="Consolas"/>
              </a:defRPr>
            </a:pPr>
            <a:r>
              <a:t>        ↓ R1</a:t>
            </a:r>
          </a:p>
          <a:p>
            <a:pPr>
              <a:spcAft>
                <a:spcPts val="600"/>
              </a:spcAft>
              <a:defRPr sz="1800">
                <a:solidFill>
                  <a:srgbClr val="23282D"/>
                </a:solidFill>
                <a:latin typeface="Consolas"/>
              </a:defRPr>
            </a:pPr>
            <a:r>
              <a:t>  DisplayProblem</a:t>
            </a:r>
          </a:p>
          <a:p>
            <a:pPr>
              <a:spcAft>
                <a:spcPts val="600"/>
              </a:spcAft>
              <a:defRPr sz="1800">
                <a:solidFill>
                  <a:srgbClr val="23282D"/>
                </a:solidFill>
                <a:latin typeface="Consolas"/>
              </a:defRPr>
            </a:pPr>
            <a:r>
              <a:t>        ↓ R2</a:t>
            </a:r>
          </a:p>
          <a:p>
            <a:pPr>
              <a:spcAft>
                <a:spcPts val="600"/>
              </a:spcAft>
              <a:defRPr sz="1800">
                <a:solidFill>
                  <a:srgbClr val="23282D"/>
                </a:solidFill>
                <a:latin typeface="Consolas"/>
              </a:defRPr>
            </a:pPr>
            <a:r>
              <a:t>  CheckMonitorCable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9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Designing the Knowledge Base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5394960" cy="4892040"/>
          </a:xfrm>
          <a:prstGeom prst="roundRect">
            <a:avLst/>
          </a:prstGeom>
          <a:solidFill>
            <a:srgbClr val="EEF5FC"/>
          </a:solidFill>
          <a:ln>
            <a:solidFill>
              <a:srgbClr val="2C66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44752"/>
            <a:ext cx="4937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C66B0"/>
                </a:solidFill>
              </a:defRPr>
            </a:pPr>
            <a:r>
              <a:t>Facts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01952"/>
            <a:ext cx="4892040" cy="3886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3282D"/>
                </a:solidFill>
              </a:defRPr>
            </a:pPr>
            <a:r>
              <a:t>Directly known statements</a:t>
            </a:r>
          </a:p>
          <a:p>
            <a:pPr>
              <a:spcAft>
                <a:spcPts val="1000"/>
              </a:spcAft>
              <a:defRPr sz="1700" b="0">
                <a:solidFill>
                  <a:srgbClr val="23282D"/>
                </a:solidFill>
              </a:defRPr>
            </a:pPr>
            <a:r>
              <a:t>Example: Fever(Ali)</a:t>
            </a:r>
          </a:p>
          <a:p>
            <a:pPr>
              <a:spcAft>
                <a:spcPts val="1000"/>
              </a:spcAft>
              <a:defRPr sz="1700" b="0">
                <a:solidFill>
                  <a:srgbClr val="23282D"/>
                </a:solidFill>
              </a:defRPr>
            </a:pPr>
            <a:r>
              <a:t>Example: Student(Riya)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234440"/>
            <a:ext cx="5394960" cy="4892040"/>
          </a:xfrm>
          <a:prstGeom prst="roundRect">
            <a:avLst/>
          </a:prstGeom>
          <a:solidFill>
            <a:srgbClr val="EEF5FC"/>
          </a:solidFill>
          <a:ln>
            <a:solidFill>
              <a:srgbClr val="2C66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44752"/>
            <a:ext cx="4937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C66B0"/>
                </a:solidFill>
              </a:defRPr>
            </a:pPr>
            <a:r>
              <a:t>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01952"/>
            <a:ext cx="4892040" cy="3886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3282D"/>
                </a:solidFill>
              </a:defRPr>
            </a:pPr>
            <a:r>
              <a:t>General knowledge expressed as IF–THEN relationships</a:t>
            </a:r>
          </a:p>
          <a:p>
            <a:pPr>
              <a:spcAft>
                <a:spcPts val="1000"/>
              </a:spcAft>
              <a:defRPr sz="1700" b="0">
                <a:solidFill>
                  <a:srgbClr val="23282D"/>
                </a:solidFill>
              </a:defRPr>
            </a:pPr>
            <a:r>
              <a:t>Example: Fever(x) ∧ Cough(x) → Infection(x)</a:t>
            </a:r>
          </a:p>
          <a:p>
            <a:pPr>
              <a:spcAft>
                <a:spcPts val="1000"/>
              </a:spcAft>
              <a:defRPr sz="1700" b="0">
                <a:solidFill>
                  <a:srgbClr val="23282D"/>
                </a:solidFill>
              </a:defRPr>
            </a:pPr>
            <a:r>
              <a:t>Rules should be consistent and domain-relevant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9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Advantages and Limitations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5394960" cy="4892040"/>
          </a:xfrm>
          <a:prstGeom prst="roundRect">
            <a:avLst/>
          </a:prstGeom>
          <a:solidFill>
            <a:srgbClr val="EEF5FC"/>
          </a:solidFill>
          <a:ln>
            <a:solidFill>
              <a:srgbClr val="2C66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44752"/>
            <a:ext cx="4937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C66B0"/>
                </a:solidFill>
              </a:defRPr>
            </a:pPr>
            <a:r>
              <a:t>Advantages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01952"/>
            <a:ext cx="4892040" cy="3886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3282D"/>
                </a:solidFill>
              </a:defRPr>
            </a:pPr>
            <a:r>
              <a:t>Fast and consistent reasoning</a:t>
            </a:r>
          </a:p>
          <a:p>
            <a:pPr>
              <a:spcAft>
                <a:spcPts val="1000"/>
              </a:spcAft>
              <a:defRPr sz="1700" b="0">
                <a:solidFill>
                  <a:srgbClr val="23282D"/>
                </a:solidFill>
              </a:defRPr>
            </a:pPr>
            <a:r>
              <a:t>Knowledge can be documented and reused</a:t>
            </a:r>
          </a:p>
          <a:p>
            <a:pPr>
              <a:spcAft>
                <a:spcPts val="1000"/>
              </a:spcAft>
              <a:defRPr sz="1700" b="0">
                <a:solidFill>
                  <a:srgbClr val="23282D"/>
                </a:solidFill>
              </a:defRPr>
            </a:pPr>
            <a:r>
              <a:t>Useful for decision support</a:t>
            </a:r>
          </a:p>
          <a:p>
            <a:pPr>
              <a:spcAft>
                <a:spcPts val="1000"/>
              </a:spcAft>
              <a:defRPr sz="1700" b="0">
                <a:solidFill>
                  <a:srgbClr val="23282D"/>
                </a:solidFill>
              </a:defRPr>
            </a:pPr>
            <a:r>
              <a:t>Can explain a rule-based conclusion</a:t>
            </a:r>
          </a:p>
          <a:p>
            <a:pPr>
              <a:spcAft>
                <a:spcPts val="1000"/>
              </a:spcAft>
              <a:defRPr sz="1700" b="0">
                <a:solidFill>
                  <a:srgbClr val="23282D"/>
                </a:solidFill>
              </a:defRPr>
            </a:pPr>
            <a:r>
              <a:t>Works well in narrow, well-defined domains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234440"/>
            <a:ext cx="5394960" cy="4892040"/>
          </a:xfrm>
          <a:prstGeom prst="roundRect">
            <a:avLst/>
          </a:prstGeom>
          <a:solidFill>
            <a:srgbClr val="EEF5FC"/>
          </a:solidFill>
          <a:ln>
            <a:solidFill>
              <a:srgbClr val="2C66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44752"/>
            <a:ext cx="4937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C66B0"/>
                </a:solidFill>
              </a:defRPr>
            </a:pPr>
            <a:r>
              <a:t>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01952"/>
            <a:ext cx="4892040" cy="3886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3282D"/>
                </a:solidFill>
              </a:defRPr>
            </a:pPr>
            <a:r>
              <a:t>Knowledge acquisition can be difficult</a:t>
            </a:r>
          </a:p>
          <a:p>
            <a:pPr>
              <a:spcAft>
                <a:spcPts val="1000"/>
              </a:spcAft>
              <a:defRPr sz="1700" b="0">
                <a:solidFill>
                  <a:srgbClr val="23282D"/>
                </a:solidFill>
              </a:defRPr>
            </a:pPr>
            <a:r>
              <a:t>Quality depends on rules and facts</a:t>
            </a:r>
          </a:p>
          <a:p>
            <a:pPr>
              <a:spcAft>
                <a:spcPts val="1000"/>
              </a:spcAft>
              <a:defRPr sz="1700" b="0">
                <a:solidFill>
                  <a:srgbClr val="23282D"/>
                </a:solidFill>
              </a:defRPr>
            </a:pPr>
            <a:r>
              <a:t>May struggle with uncertainty or novel cases</a:t>
            </a:r>
          </a:p>
          <a:p>
            <a:pPr>
              <a:spcAft>
                <a:spcPts val="1000"/>
              </a:spcAft>
              <a:defRPr sz="1700" b="0">
                <a:solidFill>
                  <a:srgbClr val="23282D"/>
                </a:solidFill>
              </a:defRPr>
            </a:pPr>
            <a:r>
              <a:t>Maintenance can become complex as rules grow</a:t>
            </a:r>
          </a:p>
          <a:p>
            <a:pPr>
              <a:spcAft>
                <a:spcPts val="1000"/>
              </a:spcAft>
              <a:defRPr sz="1700" b="0">
                <a:solidFill>
                  <a:srgbClr val="23282D"/>
                </a:solidFill>
              </a:defRPr>
            </a:pPr>
            <a:r>
              <a:t>Not a substitute for human judgment in high-stakes domains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9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Applications of Expert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3282D"/>
                </a:solidFill>
              </a:defRPr>
            </a:pPr>
            <a:r>
              <a:t>Medical decision support – symptom analysis and diagnostic assistance.</a:t>
            </a:r>
          </a:p>
          <a:p>
            <a:pPr>
              <a:spcAft>
                <a:spcPts val="1000"/>
              </a:spcAft>
              <a:defRPr sz="1800" b="0">
                <a:solidFill>
                  <a:srgbClr val="23282D"/>
                </a:solidFill>
              </a:defRPr>
            </a:pPr>
            <a:r>
              <a:t>Computer/network troubleshooting – identify likely causes and recommended actions.</a:t>
            </a:r>
          </a:p>
          <a:p>
            <a:pPr>
              <a:spcAft>
                <a:spcPts val="1000"/>
              </a:spcAft>
              <a:defRPr sz="1800" b="0">
                <a:solidFill>
                  <a:srgbClr val="23282D"/>
                </a:solidFill>
              </a:defRPr>
            </a:pPr>
            <a:r>
              <a:t>Finance – rule-based risk assessment and advisory support.</a:t>
            </a:r>
          </a:p>
          <a:p>
            <a:pPr>
              <a:spcAft>
                <a:spcPts val="1000"/>
              </a:spcAft>
              <a:defRPr sz="1800" b="0">
                <a:solidFill>
                  <a:srgbClr val="23282D"/>
                </a:solidFill>
              </a:defRPr>
            </a:pPr>
            <a:r>
              <a:t>Agriculture – crop disease identification and management advice.</a:t>
            </a:r>
          </a:p>
          <a:p>
            <a:pPr>
              <a:spcAft>
                <a:spcPts val="1000"/>
              </a:spcAft>
              <a:defRPr sz="1800" b="0">
                <a:solidFill>
                  <a:srgbClr val="23282D"/>
                </a:solidFill>
              </a:defRPr>
            </a:pPr>
            <a:r>
              <a:t>Manufacturing – fault diagnosis, quality control and maintenance.</a:t>
            </a:r>
          </a:p>
          <a:p>
            <a:pPr>
              <a:spcAft>
                <a:spcPts val="1000"/>
              </a:spcAft>
              <a:defRPr sz="1800" b="0">
                <a:solidFill>
                  <a:srgbClr val="23282D"/>
                </a:solidFill>
              </a:defRPr>
            </a:pPr>
            <a:r>
              <a:t>Education – intelligent tutoring and guided problem solving.</a:t>
            </a:r>
          </a:p>
          <a:p>
            <a:pPr>
              <a:spcAft>
                <a:spcPts val="1000"/>
              </a:spcAft>
              <a:defRPr sz="1800" b="0">
                <a:solidFill>
                  <a:srgbClr val="23282D"/>
                </a:solidFill>
              </a:defRPr>
            </a:pPr>
            <a:r>
              <a:t>Customer support – automated diagnosis and rule-based recommendations.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9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Syllabus Alignment – Unit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282D"/>
                </a:solidFill>
              </a:defRPr>
            </a:pPr>
            <a:r>
              <a:t>Artificial Intelligence Expert Systems</a:t>
            </a:r>
          </a:p>
          <a:p>
            <a:pPr>
              <a:spcAft>
                <a:spcPts val="1000"/>
              </a:spcAft>
              <a:defRPr sz="2000" b="0">
                <a:solidFill>
                  <a:srgbClr val="23282D"/>
                </a:solidFill>
              </a:defRPr>
            </a:pPr>
            <a:r>
              <a:t>Representing knowledge using propositional logic</a:t>
            </a:r>
          </a:p>
          <a:p>
            <a:pPr>
              <a:spcAft>
                <a:spcPts val="1000"/>
              </a:spcAft>
              <a:defRPr sz="2000" b="0">
                <a:solidFill>
                  <a:srgbClr val="23282D"/>
                </a:solidFill>
              </a:defRPr>
            </a:pPr>
            <a:r>
              <a:t>Representing knowledge using predicate logic</a:t>
            </a:r>
          </a:p>
          <a:p>
            <a:pPr>
              <a:spcAft>
                <a:spcPts val="1000"/>
              </a:spcAft>
              <a:defRPr sz="2000" b="0">
                <a:solidFill>
                  <a:srgbClr val="23282D"/>
                </a:solidFill>
              </a:defRPr>
            </a:pPr>
            <a:r>
              <a:t>Applying inference rules to derive conclusions</a:t>
            </a:r>
          </a:p>
          <a:p>
            <a:pPr>
              <a:spcAft>
                <a:spcPts val="1000"/>
              </a:spcAft>
              <a:defRPr sz="2000" b="0">
                <a:solidFill>
                  <a:srgbClr val="23282D"/>
                </a:solidFill>
              </a:defRPr>
            </a:pPr>
            <a:r>
              <a:t>Supporting automated reasoning</a:t>
            </a:r>
          </a:p>
          <a:p>
            <a:pPr>
              <a:spcAft>
                <a:spcPts val="1000"/>
              </a:spcAft>
              <a:defRPr sz="2000" b="0">
                <a:solidFill>
                  <a:srgbClr val="23282D"/>
                </a:solidFill>
              </a:defRPr>
            </a:pPr>
            <a:r>
              <a:t>Related prerequisite concepts: propositions, logical connectives, truth tables, logical equivalence, rules of inference and arguments.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9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282D"/>
                </a:solidFill>
              </a:defRPr>
            </a:pPr>
            <a:r>
              <a:t>An expert system uses domain knowledge and an inference mechanism to solve specialized problems.</a:t>
            </a:r>
          </a:p>
          <a:p>
            <a:pPr>
              <a:spcAft>
                <a:spcPts val="1000"/>
              </a:spcAft>
              <a:defRPr sz="2000" b="0">
                <a:solidFill>
                  <a:srgbClr val="23282D"/>
                </a:solidFill>
              </a:defRPr>
            </a:pPr>
            <a:r>
              <a:t>Propositional logic represents true/false statements; predicate logic represents objects and relationships.</a:t>
            </a:r>
          </a:p>
          <a:p>
            <a:pPr>
              <a:spcAft>
                <a:spcPts val="1000"/>
              </a:spcAft>
              <a:defRPr sz="2000" b="0">
                <a:solidFill>
                  <a:srgbClr val="23282D"/>
                </a:solidFill>
              </a:defRPr>
            </a:pPr>
            <a:r>
              <a:t>Inference rules allow the system to derive valid conclusions from facts.</a:t>
            </a:r>
          </a:p>
          <a:p>
            <a:pPr>
              <a:spcAft>
                <a:spcPts val="1000"/>
              </a:spcAft>
              <a:defRPr sz="2000" b="0">
                <a:solidFill>
                  <a:srgbClr val="23282D"/>
                </a:solidFill>
              </a:defRPr>
            </a:pPr>
            <a:r>
              <a:t>Forward chaining is data-driven; backward chaining is goal-driven.</a:t>
            </a:r>
          </a:p>
          <a:p>
            <a:pPr>
              <a:spcAft>
                <a:spcPts val="1000"/>
              </a:spcAft>
              <a:defRPr sz="2000" b="0">
                <a:solidFill>
                  <a:srgbClr val="23282D"/>
                </a:solidFill>
              </a:defRPr>
            </a:pPr>
            <a:r>
              <a:t>Automated reasoning combines representation, inference and search/control to produce conclusions.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9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Classroom / Viva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3282D"/>
                </a:solidFill>
              </a:defRPr>
            </a:pPr>
            <a:r>
              <a:t>What is an expert system? Give two applications.</a:t>
            </a:r>
          </a:p>
          <a:p>
            <a:pPr>
              <a:spcAft>
                <a:spcPts val="1000"/>
              </a:spcAft>
              <a:defRPr sz="1800" b="0">
                <a:solidFill>
                  <a:srgbClr val="23282D"/>
                </a:solidFill>
              </a:defRPr>
            </a:pPr>
            <a:r>
              <a:t>What are the main components of an expert system?</a:t>
            </a:r>
          </a:p>
          <a:p>
            <a:pPr>
              <a:spcAft>
                <a:spcPts val="1000"/>
              </a:spcAft>
              <a:defRPr sz="1800" b="0">
                <a:solidFill>
                  <a:srgbClr val="23282D"/>
                </a:solidFill>
              </a:defRPr>
            </a:pPr>
            <a:r>
              <a:t>Differentiate propositional logic and predicate logic.</a:t>
            </a:r>
          </a:p>
          <a:p>
            <a:pPr>
              <a:spcAft>
                <a:spcPts val="1000"/>
              </a:spcAft>
              <a:defRPr sz="1800" b="0">
                <a:solidFill>
                  <a:srgbClr val="23282D"/>
                </a:solidFill>
              </a:defRPr>
            </a:pPr>
            <a:r>
              <a:t>What is Modus Ponens? Give an example.</a:t>
            </a:r>
          </a:p>
          <a:p>
            <a:pPr>
              <a:spcAft>
                <a:spcPts val="1000"/>
              </a:spcAft>
              <a:defRPr sz="1800" b="0">
                <a:solidFill>
                  <a:srgbClr val="23282D"/>
                </a:solidFill>
              </a:defRPr>
            </a:pPr>
            <a:r>
              <a:t>Differentiate forward chaining and backward chaining.</a:t>
            </a:r>
          </a:p>
          <a:p>
            <a:pPr>
              <a:spcAft>
                <a:spcPts val="1000"/>
              </a:spcAft>
              <a:defRPr sz="1800" b="0">
                <a:solidFill>
                  <a:srgbClr val="23282D"/>
                </a:solidFill>
              </a:defRPr>
            </a:pPr>
            <a:r>
              <a:t>What is automated reasoning?</a:t>
            </a:r>
          </a:p>
          <a:p>
            <a:pPr>
              <a:spcAft>
                <a:spcPts val="1000"/>
              </a:spcAft>
              <a:defRPr sz="1800" b="0">
                <a:solidFill>
                  <a:srgbClr val="23282D"/>
                </a:solidFill>
              </a:defRPr>
            </a:pPr>
            <a:r>
              <a:t>Convert a simple IF–THEN rule into a logical implication.</a:t>
            </a:r>
          </a:p>
          <a:p>
            <a:pPr>
              <a:spcAft>
                <a:spcPts val="1000"/>
              </a:spcAft>
              <a:defRPr sz="1800" b="0">
                <a:solidFill>
                  <a:srgbClr val="23282D"/>
                </a:solidFill>
              </a:defRPr>
            </a:pPr>
            <a:r>
              <a:t>Given facts and rules, trace the inference engine and find the final conclusion.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9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References / Suggested 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3282D"/>
                </a:solidFill>
              </a:defRPr>
            </a:pPr>
            <a:r>
              <a:t>Discrete Mathematical Structures – Kolman, Busby and Ross, 6th Edition.</a:t>
            </a:r>
          </a:p>
          <a:p>
            <a:pPr>
              <a:spcAft>
                <a:spcPts val="1000"/>
              </a:spcAft>
              <a:defRPr sz="1800" b="0">
                <a:solidFill>
                  <a:srgbClr val="23282D"/>
                </a:solidFill>
              </a:defRPr>
            </a:pPr>
            <a:r>
              <a:t>Elements of Discrete Mathematics – C. L. Liu, 2nd Edition.</a:t>
            </a:r>
          </a:p>
          <a:p>
            <a:pPr>
              <a:spcAft>
                <a:spcPts val="1000"/>
              </a:spcAft>
              <a:defRPr sz="1800" b="0">
                <a:solidFill>
                  <a:srgbClr val="23282D"/>
                </a:solidFill>
              </a:defRPr>
            </a:pPr>
            <a:r>
              <a:t>Discrete Mathematics and Its Applications – Kenneth H. Rosen, 5th/6th Edition.</a:t>
            </a:r>
          </a:p>
          <a:p>
            <a:pPr>
              <a:spcAft>
                <a:spcPts val="1000"/>
              </a:spcAft>
              <a:defRPr sz="1800" b="0">
                <a:solidFill>
                  <a:srgbClr val="23282D"/>
                </a:solidFill>
              </a:defRPr>
            </a:pPr>
            <a:r>
              <a:t>Artificial Intelligence: A Modern Approach – Stuart Russell and Peter Norvig.</a:t>
            </a:r>
          </a:p>
          <a:p>
            <a:pPr>
              <a:spcAft>
                <a:spcPts val="1000"/>
              </a:spcAft>
              <a:defRPr sz="1800" b="0">
                <a:solidFill>
                  <a:srgbClr val="23282D"/>
                </a:solidFill>
              </a:defRPr>
            </a:pPr>
            <a:r>
              <a:t>Course syllabus provided for B.Tech. Computer Engineering – Discrete Mathematics, Unit 1.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9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